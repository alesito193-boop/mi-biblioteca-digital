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DM Sans" pitchFamily="2" charset="0"/>
      <p:regular r:id="rId11"/>
    </p:embeddedFont>
    <p:embeddedFont>
      <p:font typeface="DM Sans Bold" pitchFamily="2" charset="0"/>
      <p:regular r:id="rId12"/>
    </p:embeddedFont>
    <p:embeddedFont>
      <p:font typeface="Montserrat Bold" pitchFamily="2" charset="0"/>
      <p:regular r:id="rId13"/>
    </p:embeddedFont>
    <p:embeddedFont>
      <p:font typeface="Oswald Bold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3.fntdata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2.fntdata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1.fntdata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4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4.svg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.jpe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 /><Relationship Id="rId3" Type="http://schemas.openxmlformats.org/officeDocument/2006/relationships/image" Target="../media/image2.svg" /><Relationship Id="rId7" Type="http://schemas.openxmlformats.org/officeDocument/2006/relationships/image" Target="../media/image9.sv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8.png" /><Relationship Id="rId5" Type="http://schemas.openxmlformats.org/officeDocument/2006/relationships/image" Target="../media/image7.svg" /><Relationship Id="rId4" Type="http://schemas.openxmlformats.org/officeDocument/2006/relationships/image" Target="../media/image6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 /><Relationship Id="rId3" Type="http://schemas.openxmlformats.org/officeDocument/2006/relationships/image" Target="../media/image12.svg" /><Relationship Id="rId7" Type="http://schemas.openxmlformats.org/officeDocument/2006/relationships/image" Target="../media/image14.sv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3.png" /><Relationship Id="rId11" Type="http://schemas.openxmlformats.org/officeDocument/2006/relationships/image" Target="../media/image18.svg" /><Relationship Id="rId5" Type="http://schemas.openxmlformats.org/officeDocument/2006/relationships/image" Target="../media/image2.svg" /><Relationship Id="rId10" Type="http://schemas.openxmlformats.org/officeDocument/2006/relationships/image" Target="../media/image17.png" /><Relationship Id="rId4" Type="http://schemas.openxmlformats.org/officeDocument/2006/relationships/image" Target="../media/image1.png" /><Relationship Id="rId9" Type="http://schemas.openxmlformats.org/officeDocument/2006/relationships/image" Target="../media/image16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 /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 /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23.jpe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 /><Relationship Id="rId3" Type="http://schemas.openxmlformats.org/officeDocument/2006/relationships/image" Target="../media/image25.svg" /><Relationship Id="rId7" Type="http://schemas.openxmlformats.org/officeDocument/2006/relationships/image" Target="../media/image29.svg" /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8.png" /><Relationship Id="rId5" Type="http://schemas.openxmlformats.org/officeDocument/2006/relationships/image" Target="../media/image27.svg" /><Relationship Id="rId4" Type="http://schemas.openxmlformats.org/officeDocument/2006/relationships/image" Target="../media/image26.png" /><Relationship Id="rId9" Type="http://schemas.openxmlformats.org/officeDocument/2006/relationships/image" Target="../media/image31.sv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7" Type="http://schemas.openxmlformats.org/officeDocument/2006/relationships/image" Target="../media/image34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hyperlink" Target="https://media.tenor.com/PfiuP87QTQUAAAAM/cat-orange-cat.gif" TargetMode="External" /><Relationship Id="rId5" Type="http://schemas.openxmlformats.org/officeDocument/2006/relationships/image" Target="../media/image33.png" /><Relationship Id="rId4" Type="http://schemas.openxmlformats.org/officeDocument/2006/relationships/image" Target="../media/image32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4.svg" /><Relationship Id="rId4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659121">
            <a:off x="10659648" y="2831894"/>
            <a:ext cx="12525650" cy="12852812"/>
          </a:xfrm>
          <a:custGeom>
            <a:avLst/>
            <a:gdLst/>
            <a:ahLst/>
            <a:cxnLst/>
            <a:rect l="l" t="t" r="r" b="b"/>
            <a:pathLst>
              <a:path w="12525650" h="12852812">
                <a:moveTo>
                  <a:pt x="0" y="0"/>
                </a:moveTo>
                <a:lnTo>
                  <a:pt x="12525649" y="0"/>
                </a:lnTo>
                <a:lnTo>
                  <a:pt x="12525649" y="12852812"/>
                </a:lnTo>
                <a:lnTo>
                  <a:pt x="0" y="12852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805786" y="-7392626"/>
            <a:ext cx="13641413" cy="13997719"/>
          </a:xfrm>
          <a:custGeom>
            <a:avLst/>
            <a:gdLst/>
            <a:ahLst/>
            <a:cxnLst/>
            <a:rect l="l" t="t" r="r" b="b"/>
            <a:pathLst>
              <a:path w="13641413" h="13997719">
                <a:moveTo>
                  <a:pt x="0" y="0"/>
                </a:moveTo>
                <a:lnTo>
                  <a:pt x="13641413" y="0"/>
                </a:lnTo>
                <a:lnTo>
                  <a:pt x="13641413" y="13997719"/>
                </a:lnTo>
                <a:lnTo>
                  <a:pt x="0" y="13997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028014" y="793833"/>
            <a:ext cx="596933" cy="613568"/>
          </a:xfrm>
          <a:custGeom>
            <a:avLst/>
            <a:gdLst/>
            <a:ahLst/>
            <a:cxnLst/>
            <a:rect l="l" t="t" r="r" b="b"/>
            <a:pathLst>
              <a:path w="596933" h="613568">
                <a:moveTo>
                  <a:pt x="0" y="0"/>
                </a:moveTo>
                <a:lnTo>
                  <a:pt x="596933" y="0"/>
                </a:lnTo>
                <a:lnTo>
                  <a:pt x="596933" y="613568"/>
                </a:lnTo>
                <a:lnTo>
                  <a:pt x="0" y="613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236347" y="3202251"/>
            <a:ext cx="9815307" cy="4208864"/>
            <a:chOff x="0" y="0"/>
            <a:chExt cx="1895495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95495" cy="812800"/>
            </a:xfrm>
            <a:custGeom>
              <a:avLst/>
              <a:gdLst/>
              <a:ahLst/>
              <a:cxnLst/>
              <a:rect l="l" t="t" r="r" b="b"/>
              <a:pathLst>
                <a:path w="1895495" h="812800">
                  <a:moveTo>
                    <a:pt x="0" y="0"/>
                  </a:moveTo>
                  <a:lnTo>
                    <a:pt x="1895495" y="0"/>
                  </a:lnTo>
                  <a:lnTo>
                    <a:pt x="18954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DFBF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895495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625634" y="4348786"/>
            <a:ext cx="11036733" cy="276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84"/>
              </a:lnSpc>
            </a:pPr>
            <a:r>
              <a:rPr lang="en-US" sz="16437" b="1" spc="1610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GEOGEBRA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36347" y="3438109"/>
            <a:ext cx="9815307" cy="1186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48"/>
              </a:lnSpc>
            </a:pPr>
            <a:r>
              <a:rPr lang="en-US" sz="7063" b="1" spc="692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PROPUESTA DE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19596" y="7482578"/>
            <a:ext cx="12848809" cy="2272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1"/>
              </a:lnSpc>
            </a:pPr>
            <a:r>
              <a:rPr lang="en-US" sz="2653" b="1" spc="140">
                <a:solidFill>
                  <a:srgbClr val="F2F4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FUNCIONES MATEMATICAS</a:t>
            </a:r>
          </a:p>
          <a:p>
            <a:pPr algn="ctr">
              <a:lnSpc>
                <a:spcPts val="3661"/>
              </a:lnSpc>
            </a:pPr>
            <a:endParaRPr lang="en-US" sz="2653" b="1" spc="140">
              <a:solidFill>
                <a:srgbClr val="F2F4F5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3661"/>
              </a:lnSpc>
            </a:pPr>
            <a:r>
              <a:rPr lang="en-US" sz="2653" b="1" spc="140">
                <a:solidFill>
                  <a:srgbClr val="F2F4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BIELMAN LOPEZ ANGEL</a:t>
            </a:r>
          </a:p>
          <a:p>
            <a:pPr algn="ctr">
              <a:lnSpc>
                <a:spcPts val="3661"/>
              </a:lnSpc>
            </a:pPr>
            <a:r>
              <a:rPr lang="en-US" sz="2653" b="1" spc="140">
                <a:solidFill>
                  <a:srgbClr val="F2F4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CORTES SIERRA JESUS ALEJANDRO</a:t>
            </a:r>
          </a:p>
          <a:p>
            <a:pPr algn="ctr">
              <a:lnSpc>
                <a:spcPts val="3661"/>
              </a:lnSpc>
            </a:pPr>
            <a:r>
              <a:rPr lang="en-US" sz="2653" b="1" spc="140">
                <a:solidFill>
                  <a:srgbClr val="F2F4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SARMIENTO DAZA JULIAN ISIDRO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323035">
            <a:off x="-3830022" y="5071964"/>
            <a:ext cx="8491989" cy="8713794"/>
          </a:xfrm>
          <a:custGeom>
            <a:avLst/>
            <a:gdLst/>
            <a:ahLst/>
            <a:cxnLst/>
            <a:rect l="l" t="t" r="r" b="b"/>
            <a:pathLst>
              <a:path w="8491989" h="8713794">
                <a:moveTo>
                  <a:pt x="0" y="0"/>
                </a:moveTo>
                <a:lnTo>
                  <a:pt x="8491989" y="0"/>
                </a:lnTo>
                <a:lnTo>
                  <a:pt x="8491989" y="8713794"/>
                </a:lnTo>
                <a:lnTo>
                  <a:pt x="0" y="871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659121">
            <a:off x="12817951" y="-3485761"/>
            <a:ext cx="10940099" cy="11225848"/>
          </a:xfrm>
          <a:custGeom>
            <a:avLst/>
            <a:gdLst/>
            <a:ahLst/>
            <a:cxnLst/>
            <a:rect l="l" t="t" r="r" b="b"/>
            <a:pathLst>
              <a:path w="10940099" h="11225848">
                <a:moveTo>
                  <a:pt x="0" y="0"/>
                </a:moveTo>
                <a:lnTo>
                  <a:pt x="10940098" y="0"/>
                </a:lnTo>
                <a:lnTo>
                  <a:pt x="10940098" y="11225847"/>
                </a:lnTo>
                <a:lnTo>
                  <a:pt x="0" y="1122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223560" y="5417420"/>
            <a:ext cx="3840880" cy="3840880"/>
          </a:xfrm>
          <a:custGeom>
            <a:avLst/>
            <a:gdLst/>
            <a:ahLst/>
            <a:cxnLst/>
            <a:rect l="l" t="t" r="r" b="b"/>
            <a:pathLst>
              <a:path w="3840880" h="3840880">
                <a:moveTo>
                  <a:pt x="0" y="0"/>
                </a:moveTo>
                <a:lnTo>
                  <a:pt x="3840880" y="0"/>
                </a:lnTo>
                <a:lnTo>
                  <a:pt x="3840880" y="3840880"/>
                </a:lnTo>
                <a:lnTo>
                  <a:pt x="0" y="38408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383200" y="126703"/>
            <a:ext cx="5521600" cy="124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54"/>
              </a:lnSpc>
            </a:pPr>
            <a:r>
              <a:rPr lang="en-US" sz="7431" b="1" spc="728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CONTENIDO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2824610" y="1671508"/>
            <a:ext cx="23937220" cy="3592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7"/>
              </a:lnSpc>
            </a:pPr>
            <a:r>
              <a:rPr lang="en-US" sz="1607" b="1" spc="85">
                <a:solidFill>
                  <a:srgbClr val="F2F4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ACERCA DE ESTA APP</a:t>
            </a:r>
          </a:p>
          <a:p>
            <a:pPr algn="ctr">
              <a:lnSpc>
                <a:spcPts val="2217"/>
              </a:lnSpc>
            </a:pPr>
            <a:endParaRPr lang="en-US" sz="1607" b="1" spc="85">
              <a:solidFill>
                <a:srgbClr val="F2F4F5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2217"/>
              </a:lnSpc>
            </a:pPr>
            <a:r>
              <a:rPr lang="en-US" sz="1607" b="1" spc="85">
                <a:solidFill>
                  <a:srgbClr val="F2F4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Grafica funciones, resuelve ecuaciones y representa datos</a:t>
            </a:r>
          </a:p>
          <a:p>
            <a:pPr algn="ctr">
              <a:lnSpc>
                <a:spcPts val="2217"/>
              </a:lnSpc>
            </a:pPr>
            <a:r>
              <a:rPr lang="en-US" sz="1607" b="1" spc="85">
                <a:solidFill>
                  <a:srgbClr val="F2F4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gratis con GeoGebra</a:t>
            </a:r>
          </a:p>
          <a:p>
            <a:pPr algn="ctr">
              <a:lnSpc>
                <a:spcPts val="2217"/>
              </a:lnSpc>
            </a:pPr>
            <a:endParaRPr lang="en-US" sz="1607" b="1" spc="85">
              <a:solidFill>
                <a:srgbClr val="F2F4F5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2217"/>
              </a:lnSpc>
            </a:pPr>
            <a:r>
              <a:rPr lang="en-US" sz="1607" b="1" spc="85">
                <a:solidFill>
                  <a:srgbClr val="F2F4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Resuelve problemas matemáticos fácilmente, grafica</a:t>
            </a:r>
          </a:p>
          <a:p>
            <a:pPr algn="ctr">
              <a:lnSpc>
                <a:spcPts val="2217"/>
              </a:lnSpc>
            </a:pPr>
            <a:r>
              <a:rPr lang="en-US" sz="1607" b="1" spc="85">
                <a:solidFill>
                  <a:srgbClr val="F2F4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funciones y ecuacionas, domina la estadística y el cálculo,</a:t>
            </a:r>
          </a:p>
          <a:p>
            <a:pPr algn="ctr">
              <a:lnSpc>
                <a:spcPts val="2217"/>
              </a:lnSpc>
            </a:pPr>
            <a:r>
              <a:rPr lang="en-US" sz="1607" b="1" spc="85">
                <a:solidFill>
                  <a:srgbClr val="F2F4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combina tu trabajo con geometría interactiva, guarda</a:t>
            </a:r>
          </a:p>
          <a:p>
            <a:pPr algn="ctr">
              <a:lnSpc>
                <a:spcPts val="2217"/>
              </a:lnSpc>
            </a:pPr>
            <a:r>
              <a:rPr lang="en-US" sz="1607" b="1" spc="85">
                <a:solidFill>
                  <a:srgbClr val="F2F4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 comparte tus resultados. Millones de personas en el</a:t>
            </a:r>
          </a:p>
          <a:p>
            <a:pPr algn="ctr">
              <a:lnSpc>
                <a:spcPts val="2217"/>
              </a:lnSpc>
            </a:pPr>
            <a:r>
              <a:rPr lang="en-US" sz="1607" b="1" spc="85">
                <a:solidFill>
                  <a:srgbClr val="F2F4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mundo usan GeoGebra para aprender matemática y</a:t>
            </a:r>
          </a:p>
          <a:p>
            <a:pPr algn="ctr">
              <a:lnSpc>
                <a:spcPts val="2217"/>
              </a:lnSpc>
            </a:pPr>
            <a:r>
              <a:rPr lang="en-US" sz="1607" b="1" spc="85">
                <a:solidFill>
                  <a:srgbClr val="F2F4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ciencia. Acompñanos: ¡matemática dinámica para todos!</a:t>
            </a:r>
          </a:p>
          <a:p>
            <a:pPr algn="ctr">
              <a:lnSpc>
                <a:spcPts val="2217"/>
              </a:lnSpc>
            </a:pPr>
            <a:endParaRPr lang="en-US" sz="1607" b="1" spc="85">
              <a:solidFill>
                <a:srgbClr val="F2F4F5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2217"/>
              </a:lnSpc>
            </a:pPr>
            <a:endParaRPr lang="en-US" sz="1607" b="1" spc="85">
              <a:solidFill>
                <a:srgbClr val="F2F4F5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09689" y="-5566217"/>
            <a:ext cx="11461151" cy="11760509"/>
          </a:xfrm>
          <a:custGeom>
            <a:avLst/>
            <a:gdLst/>
            <a:ahLst/>
            <a:cxnLst/>
            <a:rect l="l" t="t" r="r" b="b"/>
            <a:pathLst>
              <a:path w="11461151" h="11760509">
                <a:moveTo>
                  <a:pt x="0" y="0"/>
                </a:moveTo>
                <a:lnTo>
                  <a:pt x="11461151" y="0"/>
                </a:lnTo>
                <a:lnTo>
                  <a:pt x="11461151" y="11760509"/>
                </a:lnTo>
                <a:lnTo>
                  <a:pt x="0" y="11760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42191" y="3396305"/>
            <a:ext cx="9051292" cy="2027499"/>
            <a:chOff x="0" y="0"/>
            <a:chExt cx="3467942" cy="7768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67941" cy="776823"/>
            </a:xfrm>
            <a:custGeom>
              <a:avLst/>
              <a:gdLst/>
              <a:ahLst/>
              <a:cxnLst/>
              <a:rect l="l" t="t" r="r" b="b"/>
              <a:pathLst>
                <a:path w="3467941" h="776823">
                  <a:moveTo>
                    <a:pt x="10264" y="0"/>
                  </a:moveTo>
                  <a:lnTo>
                    <a:pt x="3457677" y="0"/>
                  </a:lnTo>
                  <a:cubicBezTo>
                    <a:pt x="3463346" y="0"/>
                    <a:pt x="3467941" y="4595"/>
                    <a:pt x="3467941" y="10264"/>
                  </a:cubicBezTo>
                  <a:lnTo>
                    <a:pt x="3467941" y="766559"/>
                  </a:lnTo>
                  <a:cubicBezTo>
                    <a:pt x="3467941" y="772227"/>
                    <a:pt x="3463346" y="776823"/>
                    <a:pt x="3457677" y="776823"/>
                  </a:cubicBezTo>
                  <a:lnTo>
                    <a:pt x="10264" y="776823"/>
                  </a:lnTo>
                  <a:cubicBezTo>
                    <a:pt x="4595" y="776823"/>
                    <a:pt x="0" y="772227"/>
                    <a:pt x="0" y="766559"/>
                  </a:cubicBezTo>
                  <a:lnTo>
                    <a:pt x="0" y="10264"/>
                  </a:lnTo>
                  <a:cubicBezTo>
                    <a:pt x="0" y="4595"/>
                    <a:pt x="4595" y="0"/>
                    <a:pt x="10264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467942" cy="795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474235" y="3673321"/>
            <a:ext cx="1156649" cy="1173721"/>
          </a:xfrm>
          <a:custGeom>
            <a:avLst/>
            <a:gdLst/>
            <a:ahLst/>
            <a:cxnLst/>
            <a:rect l="l" t="t" r="r" b="b"/>
            <a:pathLst>
              <a:path w="1156649" h="1173721">
                <a:moveTo>
                  <a:pt x="0" y="0"/>
                </a:moveTo>
                <a:lnTo>
                  <a:pt x="1156649" y="0"/>
                </a:lnTo>
                <a:lnTo>
                  <a:pt x="1156649" y="1173721"/>
                </a:lnTo>
                <a:lnTo>
                  <a:pt x="0" y="11737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142191" y="5777447"/>
            <a:ext cx="9051292" cy="2349795"/>
            <a:chOff x="0" y="0"/>
            <a:chExt cx="3467942" cy="90030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67941" cy="900308"/>
            </a:xfrm>
            <a:custGeom>
              <a:avLst/>
              <a:gdLst/>
              <a:ahLst/>
              <a:cxnLst/>
              <a:rect l="l" t="t" r="r" b="b"/>
              <a:pathLst>
                <a:path w="3467941" h="900308">
                  <a:moveTo>
                    <a:pt x="10264" y="0"/>
                  </a:moveTo>
                  <a:lnTo>
                    <a:pt x="3457677" y="0"/>
                  </a:lnTo>
                  <a:cubicBezTo>
                    <a:pt x="3463346" y="0"/>
                    <a:pt x="3467941" y="4595"/>
                    <a:pt x="3467941" y="10264"/>
                  </a:cubicBezTo>
                  <a:lnTo>
                    <a:pt x="3467941" y="890044"/>
                  </a:lnTo>
                  <a:cubicBezTo>
                    <a:pt x="3467941" y="895713"/>
                    <a:pt x="3463346" y="900308"/>
                    <a:pt x="3457677" y="900308"/>
                  </a:cubicBezTo>
                  <a:lnTo>
                    <a:pt x="10264" y="900308"/>
                  </a:lnTo>
                  <a:cubicBezTo>
                    <a:pt x="4595" y="900308"/>
                    <a:pt x="0" y="895713"/>
                    <a:pt x="0" y="890044"/>
                  </a:cubicBezTo>
                  <a:lnTo>
                    <a:pt x="0" y="10264"/>
                  </a:lnTo>
                  <a:cubicBezTo>
                    <a:pt x="0" y="4595"/>
                    <a:pt x="4595" y="0"/>
                    <a:pt x="10264" y="0"/>
                  </a:cubicBez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3467942" cy="919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371799" y="6162574"/>
            <a:ext cx="1159455" cy="1178744"/>
          </a:xfrm>
          <a:custGeom>
            <a:avLst/>
            <a:gdLst/>
            <a:ahLst/>
            <a:cxnLst/>
            <a:rect l="l" t="t" r="r" b="b"/>
            <a:pathLst>
              <a:path w="1159455" h="1178744">
                <a:moveTo>
                  <a:pt x="0" y="0"/>
                </a:moveTo>
                <a:lnTo>
                  <a:pt x="1159455" y="0"/>
                </a:lnTo>
                <a:lnTo>
                  <a:pt x="1159455" y="1178744"/>
                </a:lnTo>
                <a:lnTo>
                  <a:pt x="0" y="11787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530423" y="5748872"/>
            <a:ext cx="7495105" cy="2151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1810" spc="177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Realiza estadísticas y regresiones con rectas y curvas de</a:t>
            </a:r>
          </a:p>
          <a:p>
            <a:pPr algn="l">
              <a:lnSpc>
                <a:spcPts val="2498"/>
              </a:lnSpc>
            </a:pPr>
            <a:r>
              <a:rPr lang="en-US" sz="1810" spc="177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ajuste.</a:t>
            </a:r>
          </a:p>
          <a:p>
            <a:pPr algn="l">
              <a:lnSpc>
                <a:spcPts val="2498"/>
              </a:lnSpc>
            </a:pPr>
            <a:r>
              <a:rPr lang="en-US" sz="1810" spc="177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· Buscar recursos didácticos gratuitos directamente desde</a:t>
            </a:r>
          </a:p>
          <a:p>
            <a:pPr algn="l">
              <a:lnSpc>
                <a:spcPts val="2498"/>
              </a:lnSpc>
            </a:pPr>
            <a:r>
              <a:rPr lang="en-US" sz="1810" spc="177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nuestra aplicación.</a:t>
            </a:r>
          </a:p>
          <a:p>
            <a:pPr algn="l">
              <a:lnSpc>
                <a:spcPts val="2498"/>
              </a:lnSpc>
            </a:pPr>
            <a:r>
              <a:rPr lang="en-US" sz="1810" spc="177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. Guarda y comparte tus producciones con amigos y</a:t>
            </a:r>
          </a:p>
          <a:p>
            <a:pPr marL="0" lvl="0" indent="0" algn="l">
              <a:lnSpc>
                <a:spcPts val="2196"/>
              </a:lnSpc>
              <a:spcBef>
                <a:spcPct val="0"/>
              </a:spcBef>
            </a:pPr>
            <a:r>
              <a:rPr lang="en-US" sz="1591" spc="155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profesores.</a:t>
            </a:r>
          </a:p>
        </p:txBody>
      </p:sp>
      <p:sp>
        <p:nvSpPr>
          <p:cNvPr id="12" name="Freeform 12"/>
          <p:cNvSpPr/>
          <p:nvPr/>
        </p:nvSpPr>
        <p:spPr>
          <a:xfrm>
            <a:off x="-3588384" y="6507120"/>
            <a:ext cx="11461151" cy="11760509"/>
          </a:xfrm>
          <a:custGeom>
            <a:avLst/>
            <a:gdLst/>
            <a:ahLst/>
            <a:cxnLst/>
            <a:rect l="l" t="t" r="r" b="b"/>
            <a:pathLst>
              <a:path w="11461151" h="11760509">
                <a:moveTo>
                  <a:pt x="0" y="0"/>
                </a:moveTo>
                <a:lnTo>
                  <a:pt x="11461151" y="0"/>
                </a:lnTo>
                <a:lnTo>
                  <a:pt x="11461151" y="11760509"/>
                </a:lnTo>
                <a:lnTo>
                  <a:pt x="0" y="11760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628977" y="1913259"/>
            <a:ext cx="5896079" cy="6408720"/>
          </a:xfrm>
          <a:custGeom>
            <a:avLst/>
            <a:gdLst/>
            <a:ahLst/>
            <a:cxnLst/>
            <a:rect l="l" t="t" r="r" b="b"/>
            <a:pathLst>
              <a:path w="5896079" h="6408720">
                <a:moveTo>
                  <a:pt x="0" y="0"/>
                </a:moveTo>
                <a:lnTo>
                  <a:pt x="5896078" y="0"/>
                </a:lnTo>
                <a:lnTo>
                  <a:pt x="5896078" y="6408720"/>
                </a:lnTo>
                <a:lnTo>
                  <a:pt x="0" y="64087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07" r="-407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142191" y="1798959"/>
            <a:ext cx="8323558" cy="1168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87"/>
              </a:lnSpc>
            </a:pPr>
            <a:r>
              <a:rPr lang="en-US" sz="6947" b="1" spc="680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PUNTOS CLAVE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30423" y="3377255"/>
            <a:ext cx="7495937" cy="2046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24" b="1" spc="16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· Representa funciones y curvas paramétricas y polares.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24" b="1" spc="16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· Resuelve ecuaciones con nuestro poderoso motor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24" b="1" spc="16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matemático.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24" b="1" spc="16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· Experimenta el trabajo conjunto con deslizadores,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24" b="1" spc="16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puntos, gráficos y geometría.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24" b="1" spc="16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· Halla intersecciones, raíces, máximos, mínimos, derivadas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24" b="1" spc="16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 integrales.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27400" y="3710908"/>
            <a:ext cx="1835290" cy="1835290"/>
          </a:xfrm>
          <a:custGeom>
            <a:avLst/>
            <a:gdLst/>
            <a:ahLst/>
            <a:cxnLst/>
            <a:rect l="l" t="t" r="r" b="b"/>
            <a:pathLst>
              <a:path w="1835290" h="1835290">
                <a:moveTo>
                  <a:pt x="0" y="0"/>
                </a:moveTo>
                <a:lnTo>
                  <a:pt x="1835290" y="0"/>
                </a:lnTo>
                <a:lnTo>
                  <a:pt x="1835290" y="1835290"/>
                </a:lnTo>
                <a:lnTo>
                  <a:pt x="0" y="1835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184549" y="3710908"/>
            <a:ext cx="1835290" cy="1835290"/>
          </a:xfrm>
          <a:custGeom>
            <a:avLst/>
            <a:gdLst/>
            <a:ahLst/>
            <a:cxnLst/>
            <a:rect l="l" t="t" r="r" b="b"/>
            <a:pathLst>
              <a:path w="1835290" h="1835290">
                <a:moveTo>
                  <a:pt x="0" y="0"/>
                </a:moveTo>
                <a:lnTo>
                  <a:pt x="1835290" y="0"/>
                </a:lnTo>
                <a:lnTo>
                  <a:pt x="1835290" y="1835290"/>
                </a:lnTo>
                <a:lnTo>
                  <a:pt x="0" y="1835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211120" y="-4076108"/>
            <a:ext cx="9333423" cy="9577206"/>
          </a:xfrm>
          <a:custGeom>
            <a:avLst/>
            <a:gdLst/>
            <a:ahLst/>
            <a:cxnLst/>
            <a:rect l="l" t="t" r="r" b="b"/>
            <a:pathLst>
              <a:path w="9333423" h="9577206">
                <a:moveTo>
                  <a:pt x="0" y="0"/>
                </a:moveTo>
                <a:lnTo>
                  <a:pt x="9333422" y="0"/>
                </a:lnTo>
                <a:lnTo>
                  <a:pt x="9333422" y="9577207"/>
                </a:lnTo>
                <a:lnTo>
                  <a:pt x="0" y="9577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037470" y="3710908"/>
            <a:ext cx="1835290" cy="1835290"/>
          </a:xfrm>
          <a:custGeom>
            <a:avLst/>
            <a:gdLst/>
            <a:ahLst/>
            <a:cxnLst/>
            <a:rect l="l" t="t" r="r" b="b"/>
            <a:pathLst>
              <a:path w="1835290" h="1835290">
                <a:moveTo>
                  <a:pt x="0" y="0"/>
                </a:moveTo>
                <a:lnTo>
                  <a:pt x="1835290" y="0"/>
                </a:lnTo>
                <a:lnTo>
                  <a:pt x="1835290" y="1835290"/>
                </a:lnTo>
                <a:lnTo>
                  <a:pt x="0" y="1835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724929" y="4132079"/>
            <a:ext cx="1040231" cy="992948"/>
          </a:xfrm>
          <a:custGeom>
            <a:avLst/>
            <a:gdLst/>
            <a:ahLst/>
            <a:cxnLst/>
            <a:rect l="l" t="t" r="r" b="b"/>
            <a:pathLst>
              <a:path w="1040231" h="992948">
                <a:moveTo>
                  <a:pt x="0" y="0"/>
                </a:moveTo>
                <a:lnTo>
                  <a:pt x="1040231" y="0"/>
                </a:lnTo>
                <a:lnTo>
                  <a:pt x="1040231" y="992948"/>
                </a:lnTo>
                <a:lnTo>
                  <a:pt x="0" y="9929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67511" y="1458275"/>
            <a:ext cx="11552977" cy="1166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87"/>
              </a:lnSpc>
            </a:pPr>
            <a:r>
              <a:rPr lang="en-US" sz="6947" b="1" spc="368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RENTABILIDAD DE USO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18087" y="5927198"/>
            <a:ext cx="4262371" cy="336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8"/>
              </a:lnSpc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GeoGebra para graficar funciones es una</a:t>
            </a:r>
          </a:p>
          <a:p>
            <a:pPr algn="ctr">
              <a:lnSpc>
                <a:spcPts val="2728"/>
              </a:lnSpc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herramienta matemática interactiva que te permite</a:t>
            </a:r>
          </a:p>
          <a:p>
            <a:pPr algn="ctr">
              <a:lnSpc>
                <a:spcPts val="2728"/>
              </a:lnSpc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visualizar y analizar funciones de manera dinámica</a:t>
            </a:r>
          </a:p>
          <a:p>
            <a:pPr algn="ctr">
              <a:lnSpc>
                <a:spcPts val="2728"/>
              </a:lnSpc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escribiendo sus ecuaciones en una barra de</a:t>
            </a:r>
          </a:p>
          <a:p>
            <a:pPr marL="0" lvl="0" indent="0" algn="ctr">
              <a:lnSpc>
                <a:spcPts val="2728"/>
              </a:lnSpc>
              <a:spcBef>
                <a:spcPct val="0"/>
              </a:spcBef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entrada. es clave para resolver problemas.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68894" y="5927198"/>
            <a:ext cx="4262371" cy="3028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8"/>
              </a:lnSpc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GeoGebra es un software interactivo de matemáticos</a:t>
            </a:r>
          </a:p>
          <a:p>
            <a:pPr algn="ctr">
              <a:lnSpc>
                <a:spcPts val="2728"/>
              </a:lnSpc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que permite graficar funciones de manera dinámica y</a:t>
            </a:r>
          </a:p>
          <a:p>
            <a:pPr algn="ctr">
              <a:lnSpc>
                <a:spcPts val="2728"/>
              </a:lnSpc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visualizar conceptos matematicos de forma sencilla</a:t>
            </a:r>
          </a:p>
          <a:p>
            <a:pPr marL="0" lvl="0" indent="0" algn="ctr">
              <a:lnSpc>
                <a:spcPts val="2728"/>
              </a:lnSpc>
              <a:spcBef>
                <a:spcPct val="0"/>
              </a:spcBef>
            </a:pPr>
            <a:endParaRPr lang="en-US" sz="1977" spc="193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821816" y="5927198"/>
            <a:ext cx="4262371" cy="2353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8"/>
              </a:lnSpc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Su Calculadora Gráfica es una aplicación potente</a:t>
            </a:r>
          </a:p>
          <a:p>
            <a:pPr algn="ctr">
              <a:lnSpc>
                <a:spcPts val="2728"/>
              </a:lnSpc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para representar, analizar y manipular funciones,</a:t>
            </a:r>
          </a:p>
          <a:p>
            <a:pPr algn="ctr">
              <a:lnSpc>
                <a:spcPts val="2728"/>
              </a:lnSpc>
            </a:pPr>
            <a:r>
              <a:rPr lang="en-US" sz="1977" spc="193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ecuaciones e inecuaciones en 2D.</a:t>
            </a:r>
          </a:p>
          <a:p>
            <a:pPr marL="0" lvl="0" indent="0" algn="ctr">
              <a:lnSpc>
                <a:spcPts val="2728"/>
              </a:lnSpc>
              <a:spcBef>
                <a:spcPct val="0"/>
              </a:spcBef>
            </a:pPr>
            <a:endParaRPr lang="en-US" sz="1977" spc="193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-3463037" y="-5866298"/>
            <a:ext cx="9333423" cy="9577206"/>
          </a:xfrm>
          <a:custGeom>
            <a:avLst/>
            <a:gdLst/>
            <a:ahLst/>
            <a:cxnLst/>
            <a:rect l="l" t="t" r="r" b="b"/>
            <a:pathLst>
              <a:path w="9333423" h="9577206">
                <a:moveTo>
                  <a:pt x="0" y="0"/>
                </a:moveTo>
                <a:lnTo>
                  <a:pt x="9333423" y="0"/>
                </a:lnTo>
                <a:lnTo>
                  <a:pt x="9333423" y="9577206"/>
                </a:lnTo>
                <a:lnTo>
                  <a:pt x="0" y="9577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887814">
            <a:off x="14993922" y="7627206"/>
            <a:ext cx="7634959" cy="7834379"/>
          </a:xfrm>
          <a:custGeom>
            <a:avLst/>
            <a:gdLst/>
            <a:ahLst/>
            <a:cxnLst/>
            <a:rect l="l" t="t" r="r" b="b"/>
            <a:pathLst>
              <a:path w="7634959" h="7834379">
                <a:moveTo>
                  <a:pt x="0" y="0"/>
                </a:moveTo>
                <a:lnTo>
                  <a:pt x="7634958" y="0"/>
                </a:lnTo>
                <a:lnTo>
                  <a:pt x="7634958" y="7834379"/>
                </a:lnTo>
                <a:lnTo>
                  <a:pt x="0" y="78343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4176364">
            <a:off x="-4084727" y="8222639"/>
            <a:ext cx="8815232" cy="9045480"/>
          </a:xfrm>
          <a:custGeom>
            <a:avLst/>
            <a:gdLst/>
            <a:ahLst/>
            <a:cxnLst/>
            <a:rect l="l" t="t" r="r" b="b"/>
            <a:pathLst>
              <a:path w="8815232" h="9045480">
                <a:moveTo>
                  <a:pt x="0" y="0"/>
                </a:moveTo>
                <a:lnTo>
                  <a:pt x="8815232" y="0"/>
                </a:lnTo>
                <a:lnTo>
                  <a:pt x="8815232" y="9045481"/>
                </a:lnTo>
                <a:lnTo>
                  <a:pt x="0" y="9045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510595" y="4222864"/>
            <a:ext cx="889040" cy="902163"/>
          </a:xfrm>
          <a:custGeom>
            <a:avLst/>
            <a:gdLst/>
            <a:ahLst/>
            <a:cxnLst/>
            <a:rect l="l" t="t" r="r" b="b"/>
            <a:pathLst>
              <a:path w="889040" h="902163">
                <a:moveTo>
                  <a:pt x="0" y="0"/>
                </a:moveTo>
                <a:lnTo>
                  <a:pt x="889040" y="0"/>
                </a:lnTo>
                <a:lnTo>
                  <a:pt x="889040" y="902163"/>
                </a:lnTo>
                <a:lnTo>
                  <a:pt x="0" y="9021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619739" y="4090960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0"/>
                </a:lnTo>
                <a:lnTo>
                  <a:pt x="0" y="10525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760017" y="-12044846"/>
            <a:ext cx="15841853" cy="16255633"/>
          </a:xfrm>
          <a:custGeom>
            <a:avLst/>
            <a:gdLst/>
            <a:ahLst/>
            <a:cxnLst/>
            <a:rect l="l" t="t" r="r" b="b"/>
            <a:pathLst>
              <a:path w="15841853" h="16255633">
                <a:moveTo>
                  <a:pt x="0" y="0"/>
                </a:moveTo>
                <a:lnTo>
                  <a:pt x="15841853" y="0"/>
                </a:lnTo>
                <a:lnTo>
                  <a:pt x="15841853" y="16255633"/>
                </a:lnTo>
                <a:lnTo>
                  <a:pt x="0" y="16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497790" y="743456"/>
            <a:ext cx="11148792" cy="112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6695" b="1" spc="65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¿EN DONDE FUNCIONA?</a:t>
            </a:r>
          </a:p>
        </p:txBody>
      </p:sp>
      <p:sp>
        <p:nvSpPr>
          <p:cNvPr id="4" name="Freeform 4"/>
          <p:cNvSpPr/>
          <p:nvPr/>
        </p:nvSpPr>
        <p:spPr>
          <a:xfrm>
            <a:off x="14185607" y="-3917030"/>
            <a:ext cx="15841853" cy="16255633"/>
          </a:xfrm>
          <a:custGeom>
            <a:avLst/>
            <a:gdLst/>
            <a:ahLst/>
            <a:cxnLst/>
            <a:rect l="l" t="t" r="r" b="b"/>
            <a:pathLst>
              <a:path w="15841853" h="16255633">
                <a:moveTo>
                  <a:pt x="0" y="0"/>
                </a:moveTo>
                <a:lnTo>
                  <a:pt x="15841853" y="0"/>
                </a:lnTo>
                <a:lnTo>
                  <a:pt x="15841853" y="16255633"/>
                </a:lnTo>
                <a:lnTo>
                  <a:pt x="0" y="16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1343437" y="6155956"/>
            <a:ext cx="12691034" cy="0"/>
          </a:xfrm>
          <a:prstGeom prst="line">
            <a:avLst/>
          </a:prstGeom>
          <a:ln w="28575" cap="flat">
            <a:solidFill>
              <a:srgbClr val="FDFBF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2983811" y="5946615"/>
            <a:ext cx="420894" cy="42089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ctr">
                <a:lnSpc>
                  <a:spcPts val="762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497790" y="4353662"/>
            <a:ext cx="1392935" cy="139293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ctr">
                <a:lnSpc>
                  <a:spcPts val="7623"/>
                </a:lnSpc>
                <a:spcBef>
                  <a:spcPct val="0"/>
                </a:spcBef>
              </a:pPr>
              <a:r>
                <a:rPr lang="en-US" sz="5524" b="1" u="none" strike="noStrike" spc="541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427856" y="4353662"/>
            <a:ext cx="1392935" cy="139293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ctr">
                <a:lnSpc>
                  <a:spcPts val="7623"/>
                </a:lnSpc>
                <a:spcBef>
                  <a:spcPct val="0"/>
                </a:spcBef>
              </a:pPr>
              <a:r>
                <a:rPr lang="en-US" sz="5524" b="1" u="none" strike="noStrike" spc="541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356928" y="4353662"/>
            <a:ext cx="1392935" cy="139293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ctr">
                <a:lnSpc>
                  <a:spcPts val="7623"/>
                </a:lnSpc>
                <a:spcBef>
                  <a:spcPct val="0"/>
                </a:spcBef>
              </a:pPr>
              <a:r>
                <a:rPr lang="en-US" sz="5524" b="1" spc="541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286000" y="4353662"/>
            <a:ext cx="1392935" cy="139293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ctr">
                <a:lnSpc>
                  <a:spcPts val="7623"/>
                </a:lnSpc>
                <a:spcBef>
                  <a:spcPct val="0"/>
                </a:spcBef>
              </a:pPr>
              <a:r>
                <a:rPr lang="en-US" sz="5524" b="1" u="none" strike="noStrike" spc="541">
                  <a:solidFill>
                    <a:srgbClr val="100F0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43437" y="7031369"/>
            <a:ext cx="2691704" cy="267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lang="en-US" sz="1549" spc="151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Entrada intuitiva: Puedes escribir la función</a:t>
            </a:r>
          </a:p>
          <a:p>
            <a:pPr algn="ctr">
              <a:lnSpc>
                <a:spcPts val="2137"/>
              </a:lnSpc>
            </a:pPr>
            <a:r>
              <a:rPr lang="en-US" sz="1549" spc="151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directamente en la barra de entrada con notación</a:t>
            </a:r>
          </a:p>
          <a:p>
            <a:pPr algn="ctr">
              <a:lnSpc>
                <a:spcPts val="2137"/>
              </a:lnSpc>
            </a:pPr>
            <a:r>
              <a:rPr lang="en-US" sz="1549" spc="151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matemática estándar, como f(x) = x^2 para</a:t>
            </a:r>
          </a:p>
          <a:p>
            <a:pPr algn="ctr">
              <a:lnSpc>
                <a:spcPts val="2137"/>
              </a:lnSpc>
            </a:pPr>
            <a:r>
              <a:rPr lang="en-US" sz="1549" spc="151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una parabola.</a:t>
            </a:r>
          </a:p>
          <a:p>
            <a:pPr algn="ctr">
              <a:lnSpc>
                <a:spcPts val="2137"/>
              </a:lnSpc>
            </a:pPr>
            <a:endParaRPr lang="en-US" sz="1549" spc="151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28700" y="6530499"/>
            <a:ext cx="3513415" cy="376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sz="2279" b="1" spc="223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ENTRADA INTUITIVA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913877" y="5946615"/>
            <a:ext cx="420894" cy="420894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ctr">
                <a:lnSpc>
                  <a:spcPts val="762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845839" y="5946615"/>
            <a:ext cx="420894" cy="420894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ctr">
                <a:lnSpc>
                  <a:spcPts val="762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777801" y="5946615"/>
            <a:ext cx="420894" cy="420894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BFB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ctr">
                <a:lnSpc>
                  <a:spcPts val="762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4778471" y="7031369"/>
            <a:ext cx="2691704" cy="2406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lang="en-US" sz="1549" spc="151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Visualización instantánea: A medida que escribes</a:t>
            </a:r>
          </a:p>
          <a:p>
            <a:pPr algn="ctr">
              <a:lnSpc>
                <a:spcPts val="2137"/>
              </a:lnSpc>
            </a:pPr>
            <a:r>
              <a:rPr lang="en-US" sz="1549" spc="151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la función, GeoGebra genera la gráfica de forma</a:t>
            </a:r>
          </a:p>
          <a:p>
            <a:pPr algn="ctr">
              <a:lnSpc>
                <a:spcPts val="2137"/>
              </a:lnSpc>
            </a:pPr>
            <a:r>
              <a:rPr lang="en-US" sz="1549" spc="151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automática y la muestra en la vista gráfica.</a:t>
            </a:r>
          </a:p>
          <a:p>
            <a:pPr algn="ctr">
              <a:lnSpc>
                <a:spcPts val="2137"/>
              </a:lnSpc>
            </a:pPr>
            <a:endParaRPr lang="en-US" sz="1549" spc="151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770694" y="6530499"/>
            <a:ext cx="3116727" cy="376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sz="2279" b="1" spc="223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VISUALIZACIÓN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10434" y="7031369"/>
            <a:ext cx="2691704" cy="2942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lang="en-US" sz="1549" spc="151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Interactividad: Permite interactuar dinamicamente</a:t>
            </a:r>
          </a:p>
          <a:p>
            <a:pPr algn="ctr">
              <a:lnSpc>
                <a:spcPts val="2137"/>
              </a:lnSpc>
            </a:pPr>
            <a:r>
              <a:rPr lang="en-US" sz="1549" spc="151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con las gráficas. Puedes usar el raton para</a:t>
            </a:r>
          </a:p>
          <a:p>
            <a:pPr algn="ctr">
              <a:lnSpc>
                <a:spcPts val="2137"/>
              </a:lnSpc>
            </a:pPr>
            <a:r>
              <a:rPr lang="en-US" sz="1549" spc="151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moverlas, hacer zoom y arrastrar puntos para ver</a:t>
            </a:r>
          </a:p>
          <a:p>
            <a:pPr algn="ctr">
              <a:lnSpc>
                <a:spcPts val="2137"/>
              </a:lnSpc>
            </a:pPr>
            <a:r>
              <a:rPr lang="en-US" sz="1549" spc="151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cómo cambian los valores</a:t>
            </a:r>
          </a:p>
          <a:p>
            <a:pPr algn="ctr">
              <a:lnSpc>
                <a:spcPts val="2137"/>
              </a:lnSpc>
            </a:pPr>
            <a:endParaRPr lang="en-US" sz="1549" spc="151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887421" y="6529312"/>
            <a:ext cx="3100036" cy="376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sz="2279" b="1" spc="223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INTERACTIVIDAD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642396" y="7032555"/>
            <a:ext cx="3392075" cy="267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lang="en-US" sz="1549" spc="151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Análisis completo: No solo dibuja la gráfica, sino</a:t>
            </a:r>
          </a:p>
          <a:p>
            <a:pPr algn="ctr">
              <a:lnSpc>
                <a:spcPts val="2137"/>
              </a:lnSpc>
            </a:pPr>
            <a:r>
              <a:rPr lang="en-US" sz="1549" spc="151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que tambien te ayuda a analizarla. Puedes</a:t>
            </a:r>
          </a:p>
          <a:p>
            <a:pPr algn="ctr">
              <a:lnSpc>
                <a:spcPts val="2137"/>
              </a:lnSpc>
            </a:pPr>
            <a:r>
              <a:rPr lang="en-US" sz="1549" spc="151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encontrar puntos especiales como raices,</a:t>
            </a:r>
          </a:p>
          <a:p>
            <a:pPr algn="ctr">
              <a:lnSpc>
                <a:spcPts val="2137"/>
              </a:lnSpc>
            </a:pPr>
            <a:r>
              <a:rPr lang="en-US" sz="1549" spc="151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extremos e intersecciones, además de generar</a:t>
            </a:r>
          </a:p>
          <a:p>
            <a:pPr algn="ctr">
              <a:lnSpc>
                <a:spcPts val="2137"/>
              </a:lnSpc>
            </a:pPr>
            <a:r>
              <a:rPr lang="en-US" sz="1549" spc="151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una tabla de valores.</a:t>
            </a:r>
          </a:p>
          <a:p>
            <a:pPr algn="ctr">
              <a:lnSpc>
                <a:spcPts val="2137"/>
              </a:lnSpc>
            </a:pPr>
            <a:endParaRPr lang="en-US" sz="1549" spc="151">
              <a:solidFill>
                <a:srgbClr val="F2F4F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0987457" y="6335236"/>
            <a:ext cx="2253911" cy="767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sz="2279" b="1" spc="223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ANÁLISIS COMPLETO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9010" y="2358387"/>
            <a:ext cx="11148792" cy="838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93"/>
              </a:lnSpc>
            </a:pPr>
            <a:r>
              <a:rPr lang="en-US" sz="4995" b="1" spc="489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VENTAJAS EN LAS FUNCIONES: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4565" y="3662844"/>
            <a:ext cx="4592902" cy="6356958"/>
          </a:xfrm>
          <a:custGeom>
            <a:avLst/>
            <a:gdLst/>
            <a:ahLst/>
            <a:cxnLst/>
            <a:rect l="l" t="t" r="r" b="b"/>
            <a:pathLst>
              <a:path w="4592902" h="6356958">
                <a:moveTo>
                  <a:pt x="0" y="0"/>
                </a:moveTo>
                <a:lnTo>
                  <a:pt x="4592902" y="0"/>
                </a:lnTo>
                <a:lnTo>
                  <a:pt x="4592902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823710" y="2143153"/>
            <a:ext cx="4640579" cy="6356958"/>
          </a:xfrm>
          <a:custGeom>
            <a:avLst/>
            <a:gdLst/>
            <a:ahLst/>
            <a:cxnLst/>
            <a:rect l="l" t="t" r="r" b="b"/>
            <a:pathLst>
              <a:path w="4640579" h="6356958">
                <a:moveTo>
                  <a:pt x="0" y="0"/>
                </a:moveTo>
                <a:lnTo>
                  <a:pt x="4640580" y="0"/>
                </a:lnTo>
                <a:lnTo>
                  <a:pt x="464058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20609" y="1028700"/>
            <a:ext cx="4290947" cy="6356958"/>
          </a:xfrm>
          <a:custGeom>
            <a:avLst/>
            <a:gdLst/>
            <a:ahLst/>
            <a:cxnLst/>
            <a:rect l="l" t="t" r="r" b="b"/>
            <a:pathLst>
              <a:path w="4290947" h="6356958">
                <a:moveTo>
                  <a:pt x="0" y="0"/>
                </a:moveTo>
                <a:lnTo>
                  <a:pt x="4290946" y="0"/>
                </a:lnTo>
                <a:lnTo>
                  <a:pt x="429094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00384" y="57195"/>
            <a:ext cx="11148792" cy="112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6695" b="1" spc="65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COMO SE VE: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9045">
            <a:off x="-402841" y="5307804"/>
            <a:ext cx="18804424" cy="8068807"/>
          </a:xfrm>
          <a:custGeom>
            <a:avLst/>
            <a:gdLst/>
            <a:ahLst/>
            <a:cxnLst/>
            <a:rect l="l" t="t" r="r" b="b"/>
            <a:pathLst>
              <a:path w="18804424" h="8068807">
                <a:moveTo>
                  <a:pt x="0" y="0"/>
                </a:moveTo>
                <a:lnTo>
                  <a:pt x="18804424" y="0"/>
                </a:lnTo>
                <a:lnTo>
                  <a:pt x="18804424" y="8068808"/>
                </a:lnTo>
                <a:lnTo>
                  <a:pt x="0" y="8068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11900353" y="3653528"/>
            <a:ext cx="4113179" cy="5112057"/>
            <a:chOff x="0" y="0"/>
            <a:chExt cx="1279723" cy="15905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9723" cy="1590502"/>
            </a:xfrm>
            <a:custGeom>
              <a:avLst/>
              <a:gdLst/>
              <a:ahLst/>
              <a:cxnLst/>
              <a:rect l="l" t="t" r="r" b="b"/>
              <a:pathLst>
                <a:path w="1279723" h="1590502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095033" y="3653528"/>
            <a:ext cx="4113179" cy="5112057"/>
            <a:chOff x="0" y="0"/>
            <a:chExt cx="1279723" cy="15905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9723" cy="1590502"/>
            </a:xfrm>
            <a:custGeom>
              <a:avLst/>
              <a:gdLst/>
              <a:ahLst/>
              <a:cxnLst/>
              <a:rect l="l" t="t" r="r" b="b"/>
              <a:pathLst>
                <a:path w="1279723" h="1590502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289311" y="3653528"/>
            <a:ext cx="4113179" cy="5112057"/>
            <a:chOff x="0" y="0"/>
            <a:chExt cx="1279723" cy="15905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79723" cy="1590502"/>
            </a:xfrm>
            <a:custGeom>
              <a:avLst/>
              <a:gdLst/>
              <a:ahLst/>
              <a:cxnLst/>
              <a:rect l="l" t="t" r="r" b="b"/>
              <a:pathLst>
                <a:path w="1279723" h="1590502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3732628" y="4016965"/>
            <a:ext cx="1211702" cy="1322294"/>
          </a:xfrm>
          <a:custGeom>
            <a:avLst/>
            <a:gdLst/>
            <a:ahLst/>
            <a:cxnLst/>
            <a:rect l="l" t="t" r="r" b="b"/>
            <a:pathLst>
              <a:path w="1211702" h="1322294">
                <a:moveTo>
                  <a:pt x="0" y="0"/>
                </a:moveTo>
                <a:lnTo>
                  <a:pt x="1211702" y="0"/>
                </a:lnTo>
                <a:lnTo>
                  <a:pt x="1211702" y="1322294"/>
                </a:lnTo>
                <a:lnTo>
                  <a:pt x="0" y="1322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563658" y="4016965"/>
            <a:ext cx="1160684" cy="1393835"/>
          </a:xfrm>
          <a:custGeom>
            <a:avLst/>
            <a:gdLst/>
            <a:ahLst/>
            <a:cxnLst/>
            <a:rect l="l" t="t" r="r" b="b"/>
            <a:pathLst>
              <a:path w="1160684" h="1393835">
                <a:moveTo>
                  <a:pt x="0" y="0"/>
                </a:moveTo>
                <a:lnTo>
                  <a:pt x="1160684" y="0"/>
                </a:lnTo>
                <a:lnTo>
                  <a:pt x="1160684" y="1393835"/>
                </a:lnTo>
                <a:lnTo>
                  <a:pt x="0" y="13938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272985" y="3986188"/>
            <a:ext cx="1353071" cy="1353071"/>
          </a:xfrm>
          <a:custGeom>
            <a:avLst/>
            <a:gdLst/>
            <a:ahLst/>
            <a:cxnLst/>
            <a:rect l="l" t="t" r="r" b="b"/>
            <a:pathLst>
              <a:path w="1353071" h="1353071">
                <a:moveTo>
                  <a:pt x="0" y="0"/>
                </a:moveTo>
                <a:lnTo>
                  <a:pt x="1353071" y="0"/>
                </a:lnTo>
                <a:lnTo>
                  <a:pt x="1353071" y="1353071"/>
                </a:lnTo>
                <a:lnTo>
                  <a:pt x="0" y="1353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343797" y="1250664"/>
            <a:ext cx="13617940" cy="2606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64"/>
              </a:lnSpc>
            </a:pPr>
            <a:r>
              <a:rPr lang="en-US" sz="4032" b="1" spc="395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DIVERSOS TIPOS DE FUNCIONES: PUEDES GRAFICAR UNA</a:t>
            </a:r>
          </a:p>
          <a:p>
            <a:pPr algn="ctr">
              <a:lnSpc>
                <a:spcPts val="5564"/>
              </a:lnSpc>
            </a:pPr>
            <a:r>
              <a:rPr lang="en-US" sz="4032" b="1" spc="395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amplia variedad de funciones, incluyendo:</a:t>
            </a:r>
          </a:p>
          <a:p>
            <a:pPr marL="0" lvl="0" indent="0" algn="ctr">
              <a:lnSpc>
                <a:spcPts val="4046"/>
              </a:lnSpc>
              <a:spcBef>
                <a:spcPct val="0"/>
              </a:spcBef>
            </a:pPr>
            <a:endParaRPr lang="en-US" sz="4032" b="1" spc="395">
              <a:solidFill>
                <a:srgbClr val="F2F4F5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574589" y="5624704"/>
            <a:ext cx="3542623" cy="86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FUNCIONES 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-LINEALES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-CUADRATICOS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72688" y="5624704"/>
            <a:ext cx="3542623" cy="86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FUNCIONES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-EXPONENCIALES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-LOGARITMICAS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78209" y="5624704"/>
            <a:ext cx="3542623" cy="86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FUNCIONES 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-TRIGONOMETICAS</a:t>
            </a:r>
          </a:p>
          <a:p>
            <a:pPr algn="ctr">
              <a:lnSpc>
                <a:spcPts val="2377"/>
              </a:lnSpc>
            </a:pPr>
            <a:r>
              <a:rPr lang="en-US" sz="1722" spc="168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Y FUNCIONES POR PARTE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87923">
            <a:off x="-6937517" y="-8230534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580377">
            <a:off x="12764389" y="4378355"/>
            <a:ext cx="12102934" cy="12419055"/>
          </a:xfrm>
          <a:custGeom>
            <a:avLst/>
            <a:gdLst/>
            <a:ahLst/>
            <a:cxnLst/>
            <a:rect l="l" t="t" r="r" b="b"/>
            <a:pathLst>
              <a:path w="12102934" h="12419055">
                <a:moveTo>
                  <a:pt x="0" y="0"/>
                </a:moveTo>
                <a:lnTo>
                  <a:pt x="12102934" y="0"/>
                </a:lnTo>
                <a:lnTo>
                  <a:pt x="12102934" y="12419055"/>
                </a:lnTo>
                <a:lnTo>
                  <a:pt x="0" y="12419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3603406" y="4172509"/>
            <a:ext cx="2706695" cy="2696122"/>
            <a:chOff x="0" y="0"/>
            <a:chExt cx="6502400" cy="6477000"/>
          </a:xfrm>
        </p:grpSpPr>
        <p:sp>
          <p:nvSpPr>
            <p:cNvPr id="5" name="Freeform 5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4"/>
              <a:stretch>
                <a:fillRect l="-5772" r="-5772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7759084" y="4172509"/>
            <a:ext cx="2706695" cy="2696122"/>
            <a:chOff x="0" y="0"/>
            <a:chExt cx="6502400" cy="6477000"/>
          </a:xfrm>
        </p:grpSpPr>
        <p:sp>
          <p:nvSpPr>
            <p:cNvPr id="8" name="Freeform 8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5"/>
              <a:stretch>
                <a:fillRect l="-38570" r="-38570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1913951" y="4172509"/>
            <a:ext cx="2706695" cy="2696122"/>
            <a:chOff x="0" y="0"/>
            <a:chExt cx="6502400" cy="6477000"/>
          </a:xfrm>
        </p:grpSpPr>
        <p:sp>
          <p:nvSpPr>
            <p:cNvPr id="11" name="Freeform 11">
              <a:hlinkClick r:id="rId6" tooltip="https://media.tenor.com/PfiuP87QTQUAAAAM/cat-orange-cat.gif"/>
            </p:cNvPr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7"/>
              <a:stretch>
                <a:fillRect l="223" r="223"/>
              </a:stretch>
            </a:blipFill>
          </p:spPr>
        </p:sp>
        <p:sp>
          <p:nvSpPr>
            <p:cNvPr id="12" name="Freeform 12">
              <a:hlinkClick r:id="rId6" tooltip="https://media.tenor.com/PfiuP87QTQUAAAAM/cat-orange-cat.gif"/>
            </p:cNvPr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3762906" y="2350381"/>
            <a:ext cx="10643196" cy="124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172"/>
              </a:lnSpc>
              <a:spcBef>
                <a:spcPct val="0"/>
              </a:spcBef>
            </a:pPr>
            <a:r>
              <a:rPr lang="en-US" sz="7371" b="1" spc="722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NUESTRO EQUIPO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24948" y="7075314"/>
            <a:ext cx="3327559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738" spc="136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JESUS ALEJANDRO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43880" y="7075314"/>
            <a:ext cx="2537103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738" spc="136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JULIAN ISIDRO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66950" y="7075314"/>
            <a:ext cx="2864644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738" spc="136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ANGEL BIELMAN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F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80377">
            <a:off x="9161036" y="-10318990"/>
            <a:ext cx="24036383" cy="24664199"/>
          </a:xfrm>
          <a:custGeom>
            <a:avLst/>
            <a:gdLst/>
            <a:ahLst/>
            <a:cxnLst/>
            <a:rect l="l" t="t" r="r" b="b"/>
            <a:pathLst>
              <a:path w="24036383" h="24664199">
                <a:moveTo>
                  <a:pt x="0" y="0"/>
                </a:moveTo>
                <a:lnTo>
                  <a:pt x="24036383" y="0"/>
                </a:lnTo>
                <a:lnTo>
                  <a:pt x="24036383" y="24664198"/>
                </a:lnTo>
                <a:lnTo>
                  <a:pt x="0" y="24664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61733" y="5519911"/>
            <a:ext cx="6065708" cy="463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2"/>
              </a:lnSpc>
              <a:spcBef>
                <a:spcPct val="0"/>
              </a:spcBef>
            </a:pPr>
            <a:r>
              <a:rPr lang="en-US" sz="2744">
                <a:solidFill>
                  <a:srgbClr val="FDFBFB"/>
                </a:solidFill>
                <a:latin typeface="DM Sans"/>
                <a:ea typeface="DM Sans"/>
                <a:cs typeface="DM Sans"/>
                <a:sym typeface="DM Sans"/>
              </a:rPr>
              <a:t>ECHENLÉ GANAS BBS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61733" y="2105045"/>
            <a:ext cx="8097687" cy="324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015"/>
              </a:lnSpc>
              <a:spcBef>
                <a:spcPct val="0"/>
              </a:spcBef>
            </a:pPr>
            <a:r>
              <a:rPr lang="en-US" sz="9431" b="1" spc="924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MUCHAS GRACIAS</a:t>
            </a:r>
          </a:p>
        </p:txBody>
      </p:sp>
      <p:sp>
        <p:nvSpPr>
          <p:cNvPr id="5" name="Freeform 5"/>
          <p:cNvSpPr/>
          <p:nvPr/>
        </p:nvSpPr>
        <p:spPr>
          <a:xfrm>
            <a:off x="15409623" y="2266970"/>
            <a:ext cx="734693" cy="755166"/>
          </a:xfrm>
          <a:custGeom>
            <a:avLst/>
            <a:gdLst/>
            <a:ahLst/>
            <a:cxnLst/>
            <a:rect l="l" t="t" r="r" b="b"/>
            <a:pathLst>
              <a:path w="734693" h="755166">
                <a:moveTo>
                  <a:pt x="0" y="0"/>
                </a:moveTo>
                <a:lnTo>
                  <a:pt x="734692" y="0"/>
                </a:lnTo>
                <a:lnTo>
                  <a:pt x="734692" y="755166"/>
                </a:lnTo>
                <a:lnTo>
                  <a:pt x="0" y="7551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Personalizado</PresentationFormat>
  <Paragraphs>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propuesta de negocio colorativo profesional negro</dc:title>
  <cp:lastModifiedBy>ale cortes</cp:lastModifiedBy>
  <cp:revision>2</cp:revision>
  <dcterms:created xsi:type="dcterms:W3CDTF">2006-08-16T00:00:00Z</dcterms:created>
  <dcterms:modified xsi:type="dcterms:W3CDTF">2025-10-14T22:38:32Z</dcterms:modified>
  <dc:identifier>DAG1y4KrwTQ</dc:identifier>
</cp:coreProperties>
</file>